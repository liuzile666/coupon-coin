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1A2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CPC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822960" y="685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· DEPT. OF MECHANICAL ENGINEERING · IDAT7100 · 2025–2026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078992"/>
            <a:ext cx="685800" cy="4572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Coin</a:t>
            </a:r>
            <a:endParaRPr lang="en-US" sz="82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(CPC)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Tokenising Incentives in Physical Infrastructure: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950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Design, Implementation, and Analysis for Smart Locker Ecosystems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892040"/>
            <a:ext cx="164592" cy="141732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5330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(Aiden) · UID 3036575582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5330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Jimmy Chan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641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5897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Carry Limited, Hong Kong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5641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5897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Marian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644652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Defence  ·  April 2026  ·  Hong Kong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minutes, in five beats.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82880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1828800"/>
            <a:ext cx="868680" cy="749808"/>
          </a:xfrm>
          <a:prstGeom prst="roundRect">
            <a:avLst>
              <a:gd name="adj" fmla="val 975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182880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83080" y="19385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0" y="195681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&lt;3% redemption is a structural failure, not a bug.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44200" y="1984248"/>
            <a:ext cx="685800" cy="438912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44200" y="19842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269748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2697480"/>
            <a:ext cx="868680" cy="749808"/>
          </a:xfrm>
          <a:prstGeom prst="roundRect">
            <a:avLst>
              <a:gd name="adj" fmla="val 975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269748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783080" y="28072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97680" y="282549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Solana-native token + dual-token RWA + IoT-anchored redemption.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744200" y="2852928"/>
            <a:ext cx="685800" cy="438912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285292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356616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3566160"/>
            <a:ext cx="868680" cy="749808"/>
          </a:xfrm>
          <a:prstGeom prst="roundRect">
            <a:avLst>
              <a:gd name="adj" fmla="val 975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56616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783080" y="36758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97680" y="369417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deployment, twelve tests, one honest war story.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744200" y="3721608"/>
            <a:ext cx="685800" cy="438912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44200" y="372160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443484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" y="4434840"/>
            <a:ext cx="868680" cy="749808"/>
          </a:xfrm>
          <a:prstGeom prst="roundRect">
            <a:avLst>
              <a:gd name="adj" fmla="val 975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3484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783080" y="4544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97680" y="456285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headroom, three-year conservative model, risk matrix.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744200" y="4590288"/>
            <a:ext cx="685800" cy="438912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44200" y="459028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530352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" y="5303520"/>
            <a:ext cx="868680" cy="749808"/>
          </a:xfrm>
          <a:prstGeom prst="roundRect">
            <a:avLst>
              <a:gd name="adj" fmla="val 975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30352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1783080" y="54132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297680" y="543153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PIYT as a theoretical contribution · next steps · discussion.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744200" y="5458968"/>
            <a:ext cx="685800" cy="438912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744200" y="545896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of every 100 coupons go nowhere.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55648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1755648"/>
            <a:ext cx="3538728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029968"/>
            <a:ext cx="3264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&lt;3%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96012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redemption 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Deloitte 2024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53128" y="1755648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53128" y="1755648"/>
            <a:ext cx="3538728" cy="128016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2029968"/>
            <a:ext cx="3264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$500M+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4681728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loss to waste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8172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ARF 2023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74736" y="1755648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1755648"/>
            <a:ext cx="3538728" cy="128016"/>
          </a:xfrm>
          <a:prstGeom prst="rect">
            <a:avLst/>
          </a:prstGeom>
          <a:solidFill>
            <a:srgbClr val="B8912F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2029968"/>
            <a:ext cx="3264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B891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$91.4B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8403336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coupon market, 2023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03336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MnM Research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152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number stays stuck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31520" y="4352544"/>
            <a:ext cx="548640" cy="32004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4526280"/>
            <a:ext cx="5376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4526280"/>
            <a:ext cx="73152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608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saturation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" y="4910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6,000–10,000 ad messages daily. Coupons vanish into the noise.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91072" y="4526280"/>
            <a:ext cx="5376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91072" y="4526280"/>
            <a:ext cx="73152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4608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fragmentation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19672" y="4910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email, push, in-app. Too many silos for any one habit to form.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" y="5486400"/>
            <a:ext cx="5376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" y="5486400"/>
            <a:ext cx="73152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5568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interoperability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60120" y="58704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A's coupon won't work at B. Network effect dies at the door.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91072" y="5486400"/>
            <a:ext cx="5376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91072" y="5486400"/>
            <a:ext cx="73152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9672" y="5568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secondary liquidity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519672" y="58704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transfer, can't trade. Unredeemed value just evaporates.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we have a real, growing locker network.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55648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5" name="Image 0" descr="/Users/aiden/WorkBuddy/20260402114125/carry-token-devnet/dissertation/figures/figure_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74520"/>
            <a:ext cx="6400800" cy="411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59893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Carry global deployment footprint (Q1 2026)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35240" y="1755648"/>
            <a:ext cx="4114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35240" y="1755648"/>
            <a:ext cx="73152" cy="98755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1812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1,300+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818120" y="23500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contracted in Indonesia (2026 rollout)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635240" y="2862072"/>
            <a:ext cx="4114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35240" y="2862072"/>
            <a:ext cx="73152" cy="98755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18120" y="29809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sites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7818120" y="3456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HK: stadiums · Wind Sail Centre · Science Park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635240" y="3968496"/>
            <a:ext cx="4114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635240" y="3968496"/>
            <a:ext cx="73152" cy="98755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18120" y="40873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$2.10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7818120" y="45628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session (HK actual)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635240" y="5074920"/>
            <a:ext cx="4114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35240" y="5074920"/>
            <a:ext cx="73152" cy="98755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18120" y="51937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7818120" y="56692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target by 2030 (white paper)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QUESTION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 a token to the hardware. Fix both sides at once.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2A35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2A355C"/>
          </a:solidFill>
          <a:ln w="12700">
            <a:solidFill>
              <a:srgbClr val="2A35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1783080"/>
            <a:ext cx="128016" cy="141732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21945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anchor a Solana-native utility token to a working consumer smart-locker network, can we simultaneously redress the redemption-rate failure of the coupon economy and the customer-acquisition cost problem of the locker industry?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34747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474720"/>
            <a:ext cx="960120" cy="123444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47472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874520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874520" y="397764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the four literatures; pin down the real gap.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91072" y="34747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3474720"/>
            <a:ext cx="960120" cy="123444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347472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434072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34072" y="397764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· contracts · IoT interface · dual-token mechanics.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" y="48463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846320"/>
            <a:ext cx="960120" cy="123444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84632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874520" y="5001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874520" y="534924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Devnet. Mint 200M. Run 12 structured tests.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91072" y="48463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41E3C"/>
          </a:solidFill>
          <a:ln w="12700">
            <a:solidFill>
              <a:srgbClr val="141E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1072" y="4846320"/>
            <a:ext cx="960120" cy="123444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484632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434072" y="5001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434072" y="534924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Technical, economic, regulatory — all under conservative inputs.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streams exist. Nobody had braided them together.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8288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1828800"/>
            <a:ext cx="2633472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loyalty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2023 · KrisPay · BCII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38728" y="18288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38728" y="1828800"/>
            <a:ext cx="2633472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Smart-locker IoT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21608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2021 · IEEE Access 2025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45936" y="18288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5936" y="1828800"/>
            <a:ext cx="2633472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tokenisation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28816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Freni 2020 · Deloitte 2022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53144" y="1828800"/>
            <a:ext cx="26334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53144" y="1828800"/>
            <a:ext cx="2633472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36024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L1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36024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Yakovenko 2018 (Solana)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93392" y="3154680"/>
            <a:ext cx="128016" cy="411480"/>
          </a:xfrm>
          <a:prstGeom prst="down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154680"/>
            <a:ext cx="128016" cy="411480"/>
          </a:xfrm>
          <a:prstGeom prst="down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07808" y="3154680"/>
            <a:ext cx="128016" cy="411480"/>
          </a:xfrm>
          <a:prstGeom prst="down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15016" y="3154680"/>
            <a:ext cx="128016" cy="411480"/>
          </a:xfrm>
          <a:prstGeom prst="down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3749040"/>
            <a:ext cx="10744200" cy="868680"/>
          </a:xfrm>
          <a:prstGeom prst="roundRect">
            <a:avLst>
              <a:gd name="adj" fmla="val 10526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749040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Coin (CPC)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3152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gap stayed open until now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31520" y="5257800"/>
            <a:ext cx="502920" cy="32004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5440680"/>
            <a:ext cx="35478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5440680"/>
            <a:ext cx="411480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5440680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261872" y="5513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problem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61872" y="5788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teams without hardware; operators without engineers.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453128" y="5440680"/>
            <a:ext cx="35478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53128" y="5440680"/>
            <a:ext cx="411480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53128" y="5440680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983480" y="5513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problem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83480" y="5788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Pre-2022, no L1 had both the cost and latency for per-tap micropayments.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174736" y="5440680"/>
            <a:ext cx="35478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74736" y="5440680"/>
            <a:ext cx="411480" cy="841248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74736" y="5440680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8705088" y="5513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problem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705088" y="5788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SFC and Singapore MAS guidance only stabilised in 2019–2022.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layers, decoupled by design.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7498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5" name="Image 0" descr="/Users/aiden/WorkBuddy/20260402114125/carry-token-devnet/dissertation/figures/figure_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920240"/>
            <a:ext cx="7223760" cy="40233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5989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protocol three-layer system architecture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412480" y="1783080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0" y="1783080"/>
            <a:ext cx="109728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13648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CHAIN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613648" y="2167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settlement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613648" y="2532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token · Metaplex metadata · 5 custom contracts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412480" y="3209544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12480" y="3209544"/>
            <a:ext cx="109728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13648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APP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613648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backend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613648" y="3959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wallet · Y Carry ops · merchant POS adapters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412480" y="4636008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12480" y="4636008"/>
            <a:ext cx="109728" cy="1280160"/>
          </a:xfrm>
          <a:prstGeom prst="rect">
            <a:avLst/>
          </a:prstGeom>
          <a:solidFill>
            <a:srgbClr val="B8912F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613648" y="4745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PHYSICAL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613648" y="5020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lockers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613648" y="53858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reader · NB-IoT gateway · MQTT broker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TOKEN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 supply · dual-token · three deflation knobs.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5" name="Image 0" descr="/Users/aiden/WorkBuddy/20260402114125/carry-token-devnet/dissertation/figures/figure_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874520"/>
            <a:ext cx="4800600" cy="40233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5989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token distribution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989320" y="178308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9320" y="1783080"/>
            <a:ext cx="91440" cy="210312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Dual-Token Mechanic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63640" y="233172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CPC</a:t>
            </a:r>
            <a:endParaRPr lang="en-US" sz="3400" dirty="0"/>
          </a:p>
        </p:txBody>
      </p:sp>
      <p:sp>
        <p:nvSpPr>
          <p:cNvPr id="32" name="Text 29"/>
          <p:cNvSpPr/>
          <p:nvPr/>
        </p:nvSpPr>
        <p:spPr>
          <a:xfrm>
            <a:off x="6263640" y="3108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Fungible · governance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549640" y="2606040"/>
            <a:ext cx="777240" cy="320040"/>
          </a:xfrm>
          <a:prstGeom prst="rightArrow">
            <a:avLst/>
          </a:prstGeom>
          <a:solidFill>
            <a:srgbClr val="B8912F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49640" y="3108960"/>
            <a:ext cx="777240" cy="320040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58200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1,000 CPC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458200" y="34564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→ return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445752" y="2331720"/>
            <a:ext cx="2212848" cy="1417320"/>
          </a:xfrm>
          <a:prstGeom prst="roundRect">
            <a:avLst>
              <a:gd name="adj" fmla="val 7742"/>
            </a:avLst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445752" y="245059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Locker Token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9445752" y="297180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PIYT — 1:1 hardware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+ yield share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89320" y="4069080"/>
            <a:ext cx="5760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989320" y="4069080"/>
            <a:ext cx="914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72200" y="413308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7543800" y="41788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auto-burn per locker payment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989320" y="4764024"/>
            <a:ext cx="5760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989320" y="4764024"/>
            <a:ext cx="914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72200" y="482803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7543800" y="487375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→ buyback &amp; burn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989320" y="5458968"/>
            <a:ext cx="5760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89320" y="5458968"/>
            <a:ext cx="914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72200" y="552297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1%/yr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7543800" y="556869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on wallets idle &gt; 36 months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CHAIN SELECTION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candidates, seven weighted criteria.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5" name="Image 0" descr="/Users/aiden/WorkBuddy/20260402114125/carry-token-devnet/dissertation/figures/figure_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920240"/>
            <a:ext cx="6309360" cy="40233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598932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scores across six L1 / L2 networks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438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ranking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543800" y="212140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43800" y="2121408"/>
            <a:ext cx="91440" cy="54864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26680" y="21214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32688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8.43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921240" y="2121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10 · Cost 10 · Finality 9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543800" y="2752344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26680" y="2752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(L2)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26880" y="2752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7.62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921240" y="27523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tooling; loses on Q+cost vs Solana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543800" y="338328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26680" y="3383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3268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7.45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9212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fast; smaller ecosystem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543800" y="401421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26680" y="401421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32688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7.10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921240" y="4014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Liquid; centralisation concern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543800" y="4645152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26680" y="46451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9326880" y="4645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6.95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921240" y="4645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Capable; narrower dev pool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543800" y="527608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26680" y="52760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932688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6.21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9921240" y="5276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TVL 10 · cost 2 — kills micropayments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CONTRACTS + UX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contracts · one tap · ~1.2 seconds end-to-end.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65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0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65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tap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65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3052" y="2583180"/>
            <a:ext cx="164592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867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782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867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 MCU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867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event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13252" y="2583180"/>
            <a:ext cx="164592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869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784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869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869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MQTT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3452" y="2583180"/>
            <a:ext cx="164592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871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786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871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871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attestation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3652" y="2583180"/>
            <a:ext cx="164592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873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88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873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engine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873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+ mints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13852" y="2583180"/>
            <a:ext cx="164592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875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790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875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mint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5875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 wallet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014052" y="2583180"/>
            <a:ext cx="164592" cy="1828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87788" y="19659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79228" y="2039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187788" y="2377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portion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187788" y="2788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 finality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1520" y="3611880"/>
            <a:ext cx="10744200" cy="502920"/>
          </a:xfrm>
          <a:prstGeom prst="roundRect">
            <a:avLst>
              <a:gd name="adj" fmla="val 14545"/>
            </a:avLst>
          </a:prstGeom>
          <a:solidFill>
            <a:srgbClr val="F6F7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361188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≤ 1.2 s end-to-end   ·   finality ≈ 400 ms slot   ·   cost ≈ $0.00025 per tap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3152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surface: five contracts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31520" y="4617720"/>
            <a:ext cx="457200" cy="32004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" y="480060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0" y="4800600"/>
            <a:ext cx="2112264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CouponCoin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6868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token + metadata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930652" y="480060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30652" y="4800600"/>
            <a:ext cx="2112264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67812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LockerPayment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067812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+ 2% burn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129784" y="480060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29784" y="4800600"/>
            <a:ext cx="2112264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66944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RewardEngine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266944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rewards · batch payouts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328916" y="480060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328916" y="4800600"/>
            <a:ext cx="2112264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66076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TokenVesting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7466076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Time-locked release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9528048" y="480060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528048" y="4800600"/>
            <a:ext cx="2112264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65208" y="4983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BuybackBurn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9665208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Open-market repurchase + burn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Devnet deployment + 12 / 12 tests passing.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5" name="Image 0" descr="/Users/aiden/WorkBuddy/20260402114125/carry-token-devnet/dissertation/figures/figure_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1874520"/>
            <a:ext cx="4983480" cy="180136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31520" y="3886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7" name="Image 1" descr="/Users/aiden/WorkBuddy/20260402114125/carry-token-devnet/dissertation/figures/figure_1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248" y="3977640"/>
            <a:ext cx="4983480" cy="18013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31520" y="58978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deploy · Solscan mint verify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72200" y="178308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72200" y="1783080"/>
            <a:ext cx="82296" cy="1143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63640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6263640" y="2441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minted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tx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055864" y="178308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055864" y="1783080"/>
            <a:ext cx="82296" cy="1143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47304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1.8s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8147304" y="2441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9939528" y="178308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939528" y="1783080"/>
            <a:ext cx="82296" cy="1143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030968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$1.40</a:t>
            </a:r>
            <a:endParaRPr lang="en-US" sz="2200" dirty="0"/>
          </a:p>
        </p:txBody>
      </p:sp>
      <p:sp>
        <p:nvSpPr>
          <p:cNvPr id="40" name="Text 36"/>
          <p:cNvSpPr/>
          <p:nvPr/>
        </p:nvSpPr>
        <p:spPr>
          <a:xfrm>
            <a:off x="10030968" y="244144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172200" y="306324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172200" y="3063240"/>
            <a:ext cx="128016" cy="141732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55080" y="31546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12</a:t>
            </a:r>
            <a:endParaRPr lang="en-US" sz="5200" dirty="0"/>
          </a:p>
        </p:txBody>
      </p:sp>
      <p:sp>
        <p:nvSpPr>
          <p:cNvPr id="44" name="Text 40"/>
          <p:cNvSpPr/>
          <p:nvPr/>
        </p:nvSpPr>
        <p:spPr>
          <a:xfrm>
            <a:off x="8778240" y="3291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functional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passed end-to-end.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635508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mint · vesting · reward · buyback · payment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172200" y="461772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172200" y="4617720"/>
            <a:ext cx="82296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355080" y="47365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635508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Solana RPC endpoint blocked by corporate DPI.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355080" y="53492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routing through Helius commercial endpoint. Mitigation now baked into the production architecture as a multi-endpoint fallback chain.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FEASIBILITY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headroom and a conservative 3-year model.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1783080"/>
            <a:ext cx="914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18928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7,471×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14400" y="2496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throughput headroom over projected peak demand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29260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2926080"/>
            <a:ext cx="914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0358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&lt;0.001%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14400" y="3639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consumed by on-chain transaction fees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1605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160520"/>
            <a:ext cx="109728" cy="192024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DEFLATIONARY SIMULATION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440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06040" y="4572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lockers · 8 sessions/day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0" y="4572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06040" y="5029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lockers · 12 sessions/day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0" y="5029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11.7%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5486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06040" y="5486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lockers · 16 sessions/day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0" y="5486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0B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24.3%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72200" y="178308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45" name="Image 0" descr="/Users/aiden/WorkBuddy/20260402114125/carry-token-devnet/dissertation/figures/figure_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1072" y="1901952"/>
            <a:ext cx="5349240" cy="406908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172200" y="598932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conservative locker deployment 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RISK +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is the risk I worry about most.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6217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pic>
        <p:nvPicPr>
          <p:cNvPr id="25" name="Image 0" descr="/Users/aiden/WorkBuddy/20260402114125/carry-token-devnet/dissertation/figures/figure_2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920240"/>
            <a:ext cx="5943600" cy="40233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5989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Five-vector risk severity matrix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178040" y="1783080"/>
            <a:ext cx="45720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609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compliance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360920" y="2331720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60920" y="2331720"/>
            <a:ext cx="9144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· HK DOMESTIC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54380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Carry Limited (HK)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543800" y="30175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locker operations, fiat rental fees, non-transferable loyalty points. Zero on-chain activity.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360920" y="4114800"/>
            <a:ext cx="429768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60920" y="4114800"/>
            <a:ext cx="91440" cy="16002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4380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OFFSHORE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543800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/ BVI entity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543800" y="4800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issuance, distribution, on-chain governance. No HK commercial nexus.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COMPARATIVE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CPC actually changes.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324612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178308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1783080"/>
            <a:ext cx="251460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17830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1783080"/>
            <a:ext cx="2514600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7830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BCII Token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0" y="1783080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17830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Protocol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2359152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2359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23360" y="2359152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2359152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0" y="2359152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23591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15–25%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2889504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28895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Cross-merchant interop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0" y="2889504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28895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2889504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8895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44000" y="2889504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28895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one denom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3419856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341985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infra anchor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23360" y="3419856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0520" y="34198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3419856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34198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0" y="3419856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81160" y="34198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Carry locker network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31520" y="3950208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3950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liquidity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023360" y="3950208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60520" y="3950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83680" y="3950208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3950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(MintMe)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144000" y="3950208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81160" y="3950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Raydium / Jupiter DEX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31520" y="4480560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8680" y="4480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Dual-token RWA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023360" y="4480560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60520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583680" y="4480560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0840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144000" y="44805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8116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(Locker Token PIYT)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31520" y="5010912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8680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023360" y="5010912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60520" y="50109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583680" y="5010912"/>
            <a:ext cx="2514600" cy="502920"/>
          </a:xfrm>
          <a:prstGeom prst="roundRect">
            <a:avLst>
              <a:gd name="adj" fmla="val 7273"/>
            </a:avLst>
          </a:prstGeom>
          <a:solidFill>
            <a:srgbClr val="F6F7FB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0840" y="50109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144000" y="5010912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3D6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81160" y="5010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 TPS (Solana)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31520" y="5623560"/>
            <a:ext cx="11018520" cy="594360"/>
          </a:xfrm>
          <a:prstGeom prst="roundRect">
            <a:avLst>
              <a:gd name="adj" fmla="val 12308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0" y="5623560"/>
            <a:ext cx="128016" cy="59436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60120" y="562356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anchor + dual-token RWA + Layer-1 throughput — that combination has no published precedent.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CONTRIBUTIONS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contributions · four next steps.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5568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790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564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339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113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888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662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8436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211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534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73088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0832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8576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6320" y="6510528"/>
            <a:ext cx="128016" cy="128016"/>
          </a:xfrm>
          <a:prstGeom prst="ellipse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4064" y="6510528"/>
            <a:ext cx="73152" cy="73152"/>
          </a:xfrm>
          <a:prstGeom prst="ellipse">
            <a:avLst/>
          </a:prstGeom>
          <a:solidFill>
            <a:srgbClr val="D4D9E5"/>
          </a:solidFill>
          <a:ln w="12700">
            <a:solidFill>
              <a:srgbClr val="D4D9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725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· CPC Capstone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1783080"/>
            <a:ext cx="3538728" cy="34747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178308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PIYT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27432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Infrastructure Yield Token — a new RWA sub-class defined by 1:1 hardware mapping, operational yield, proportional governance.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53128" y="178308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53128" y="1783080"/>
            <a:ext cx="3538728" cy="34747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53128" y="178308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81728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× 7 framework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681728" y="27432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chain-selection matrix. Transferable to any L1/L2 decision in physical-asset tokenisation.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74736" y="178308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1783080"/>
            <a:ext cx="3538728" cy="34747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74736" y="1783080"/>
            <a:ext cx="3538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03336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kit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403336" y="27432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Devnet deploy, 5-contract pseudocode, conservative 3-year model, HK-defensible compliance structure.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Post-Capstone roadmap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31520" y="5257800"/>
            <a:ext cx="457200" cy="32004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5440680"/>
            <a:ext cx="26334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5440680"/>
            <a:ext cx="548640" cy="80467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4406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17320" y="5532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audit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417320" y="5824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CertiK / OtterSec · 4–6 weeks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64992" y="5751576"/>
            <a:ext cx="164592" cy="182880"/>
          </a:xfrm>
          <a:prstGeom prst="right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38728" y="5440680"/>
            <a:ext cx="26334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38728" y="5440680"/>
            <a:ext cx="548640" cy="80467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38728" y="54406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224528" y="5532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launch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24528" y="5824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3-of-5 · LP burn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72200" y="5751576"/>
            <a:ext cx="164592" cy="182880"/>
          </a:xfrm>
          <a:prstGeom prst="right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45936" y="5440680"/>
            <a:ext cx="26334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5936" y="5440680"/>
            <a:ext cx="548640" cy="80467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45936" y="54406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31736" y="5532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governance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031736" y="5824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token-weighted votes · 18-mo horizon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979408" y="5751576"/>
            <a:ext cx="164592" cy="182880"/>
          </a:xfrm>
          <a:prstGeom prst="rightArrow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53144" y="5440680"/>
            <a:ext cx="263347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E3E7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53144" y="5440680"/>
            <a:ext cx="548640" cy="804672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53144" y="54406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838944" y="5532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838944" y="5824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· real redemption numbers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65760"/>
            <a:ext cx="11734495" cy="612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0" b="1" dirty="0">
                <a:solidFill>
                  <a:srgbClr val="1A2B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52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discussion.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463040" cy="4572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160520"/>
            <a:ext cx="105613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160520"/>
            <a:ext cx="164592" cy="1828800"/>
          </a:xfrm>
          <a:prstGeom prst="rect">
            <a:avLst/>
          </a:prstGeom>
          <a:solidFill>
            <a:srgbClr val="E0B250"/>
          </a:solidFill>
          <a:ln w="12700">
            <a:solidFill>
              <a:srgbClr val="E0B2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70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46268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Zile (Aiden)  ·  MSc IDAT  ·  UID 3036575582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4370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46268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Jimmy Chan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5029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5285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Carry Limited, Hong Kong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5029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B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5285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carry-token-devnet (private)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· IDAT7100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HKU MSc IDAT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Coupon Coin (CPC) — Capstone Defence</dc:title>
  <dc:subject>PptxGenJS Presentation</dc:subject>
  <dc:creator>Liu Zile (Aiden) — UID 3036575582</dc:creator>
  <cp:lastModifiedBy>Liu Zile (Aiden) — UID 3036575582</cp:lastModifiedBy>
  <cp:revision>1</cp:revision>
  <dcterms:created xsi:type="dcterms:W3CDTF">2026-05-03T10:24:49Z</dcterms:created>
  <dcterms:modified xsi:type="dcterms:W3CDTF">2026-05-03T10:24:49Z</dcterms:modified>
</cp:coreProperties>
</file>